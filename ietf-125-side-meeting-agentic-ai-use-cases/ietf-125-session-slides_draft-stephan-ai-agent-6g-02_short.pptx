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4" r:id="rId1"/>
  </p:sldMasterIdLst>
  <p:notesMasterIdLst>
    <p:notesMasterId r:id="rId10"/>
  </p:notesMasterIdLst>
  <p:sldIdLst>
    <p:sldId id="256" r:id="rId2"/>
    <p:sldId id="268" r:id="rId3"/>
    <p:sldId id="272" r:id="rId4"/>
    <p:sldId id="284" r:id="rId5"/>
    <p:sldId id="285" r:id="rId6"/>
    <p:sldId id="286" r:id="rId7"/>
    <p:sldId id="288" r:id="rId8"/>
    <p:sldId id="289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277BD"/>
    <a:srgbClr val="015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51" autoAdjust="0"/>
  </p:normalViewPr>
  <p:slideViewPr>
    <p:cSldViewPr snapToGrid="0">
      <p:cViewPr varScale="1">
        <p:scale>
          <a:sx n="77" d="100"/>
          <a:sy n="77" d="100"/>
        </p:scale>
        <p:origin x="980" y="64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2D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sz="4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002D3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bg>
      <p:bgPr>
        <a:solidFill>
          <a:srgbClr val="002D3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■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 title" type="titleOnly">
  <p:cSld name="TITLE_ONLY">
    <p:bg>
      <p:bgPr>
        <a:solidFill>
          <a:srgbClr val="002D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0" y="770474"/>
            <a:ext cx="9144000" cy="43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58699" y="61427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  <a:defRPr sz="24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60950" y="1001775"/>
            <a:ext cx="8222100" cy="3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3gpp.org/dynareport/22870.htm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3gpp.org/dynareport/23801-1.htm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754500" y="2925141"/>
            <a:ext cx="7635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lvl="0" algn="ctr"/>
            <a:r>
              <a:rPr lang="en-US" dirty="0"/>
              <a:t>6G use cases for AI agent communication protocols</a:t>
            </a:r>
            <a:br>
              <a:rPr lang="en-US" sz="3600" dirty="0"/>
            </a:br>
            <a:r>
              <a:rPr lang="en-US" sz="1800" dirty="0"/>
              <a:t>draft-stephan-ai-agent-6g-02</a:t>
            </a:r>
            <a:br>
              <a:rPr lang="en-US" sz="3600" dirty="0"/>
            </a:br>
            <a:endParaRPr sz="3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54500" y="864855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March 2026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4C27C-A7D2-4BFF-BC2E-FABB9D4E0D1E}"/>
              </a:ext>
            </a:extLst>
          </p:cNvPr>
          <p:cNvSpPr txBox="1"/>
          <p:nvPr/>
        </p:nvSpPr>
        <p:spPr>
          <a:xfrm>
            <a:off x="419100" y="3201043"/>
            <a:ext cx="871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E. Stephan (Orange), R. Schott (Deutsche Telekom), </a:t>
            </a:r>
          </a:p>
          <a:p>
            <a:pPr algn="ctr"/>
            <a:r>
              <a:rPr lang="en-US" dirty="0">
                <a:solidFill>
                  <a:schemeClr val="accent4"/>
                </a:solidFill>
              </a:rPr>
              <a:t>D. Lopez (Telefonica), X. Duan (China Mobile), L. Morand (Huawei)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04A05-3124-4EB8-AF31-7A2369B06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034" y="97048"/>
            <a:ext cx="2716298" cy="15356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0645-AE83-4116-AFAA-563A3628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Study on 6G Use Cases and Service Requirements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58BC4ED-9254-4918-AEC4-B02C82293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01775"/>
            <a:ext cx="6555337" cy="3765300"/>
          </a:xfrm>
        </p:spPr>
        <p:txBody>
          <a:bodyPr/>
          <a:lstStyle/>
          <a:p>
            <a:r>
              <a:rPr lang="en-US" sz="1600" dirty="0"/>
              <a:t>6G Use Cases and Service Requirements c</a:t>
            </a:r>
            <a:r>
              <a:rPr lang="fr-FR" sz="1600" dirty="0" err="1"/>
              <a:t>aptured</a:t>
            </a:r>
            <a:r>
              <a:rPr lang="fr-FR" sz="1600" dirty="0"/>
              <a:t> in 3GPP TR 22.870</a:t>
            </a:r>
          </a:p>
          <a:p>
            <a:pPr lvl="1"/>
            <a:r>
              <a:rPr lang="fr-FR" sz="1600" dirty="0"/>
              <a:t>15-month </a:t>
            </a:r>
            <a:r>
              <a:rPr lang="fr-FR" sz="1600" dirty="0" err="1"/>
              <a:t>study</a:t>
            </a:r>
            <a:r>
              <a:rPr lang="fr-FR" sz="1600" dirty="0"/>
              <a:t> report </a:t>
            </a:r>
            <a:r>
              <a:rPr lang="fr-FR" sz="1600" dirty="0" err="1"/>
              <a:t>published</a:t>
            </a:r>
            <a:r>
              <a:rPr lang="fr-FR" sz="1600" dirty="0"/>
              <a:t> in 2026/03</a:t>
            </a:r>
          </a:p>
          <a:p>
            <a:pPr lvl="1"/>
            <a:r>
              <a:rPr lang="fr-FR" sz="1600" dirty="0">
                <a:hlinkClick r:id="rId2"/>
              </a:rPr>
              <a:t>https://www.3gpp.org/dynareport/22870.htm</a:t>
            </a:r>
            <a:endParaRPr lang="fr-FR" sz="1600" dirty="0"/>
          </a:p>
          <a:p>
            <a:r>
              <a:rPr lang="fr-FR" sz="1600" dirty="0"/>
              <a:t>Objectives:</a:t>
            </a:r>
          </a:p>
          <a:p>
            <a:pPr lvl="1"/>
            <a:r>
              <a:rPr lang="en-US" sz="1600" dirty="0"/>
              <a:t>Identify high level principles and use cases</a:t>
            </a:r>
          </a:p>
          <a:p>
            <a:pPr lvl="1"/>
            <a:r>
              <a:rPr lang="en-US" sz="1600" dirty="0"/>
              <a:t>Define potential requirements for 6G system to support new/enhanced services</a:t>
            </a:r>
          </a:p>
          <a:p>
            <a:r>
              <a:rPr lang="en-US" sz="1600" dirty="0"/>
              <a:t>Useful insights on the potential foundation pillars of the new 6G system. </a:t>
            </a:r>
          </a:p>
          <a:p>
            <a:r>
              <a:rPr lang="fr-FR" sz="1600" dirty="0"/>
              <a:t>A</a:t>
            </a:r>
            <a:r>
              <a:rPr lang="en-US" sz="1600" dirty="0"/>
              <a:t>I and AI agents are clearly hot 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DEB42-6C13-4297-A7CA-7E12AFE005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5428" y="4884818"/>
            <a:ext cx="336900" cy="3354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34020-215E-4F63-AB0C-8923CB13C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591A3-D9D3-41F2-94C0-6EEDEEED6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114" y="744388"/>
            <a:ext cx="2902886" cy="41528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175C844-09B9-4725-A9EF-F2B067A50F15}"/>
              </a:ext>
            </a:extLst>
          </p:cNvPr>
          <p:cNvSpPr/>
          <p:nvPr/>
        </p:nvSpPr>
        <p:spPr>
          <a:xfrm>
            <a:off x="6257781" y="3283527"/>
            <a:ext cx="595112" cy="2527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3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2D77-7F2D-43BB-9BDA-8A6E69C4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Pragmatic</a:t>
            </a:r>
            <a:r>
              <a:rPr lang="fr-FR" dirty="0"/>
              <a:t> </a:t>
            </a:r>
            <a:r>
              <a:rPr lang="fr-FR" dirty="0" err="1"/>
              <a:t>approach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7B58B-6A7A-4B4D-B174-ADF323E55B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8840CC-CFCD-402E-A2E6-6567AFD4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46C9AC-AF29-4EAF-9BA1-A2F8BD86D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61" y="3393391"/>
            <a:ext cx="4506445" cy="12333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B5A09B-8EB0-413D-8754-E2AC59D40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73" y="860253"/>
            <a:ext cx="4542433" cy="1366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991DE9-616A-466F-B3E2-85FFB62DF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663" y="2325117"/>
            <a:ext cx="1208724" cy="1068274"/>
          </a:xfrm>
          <a:prstGeom prst="rect">
            <a:avLst/>
          </a:prstGeom>
        </p:spPr>
      </p:pic>
      <p:sp>
        <p:nvSpPr>
          <p:cNvPr id="24" name="Arrow: Striped Right 23">
            <a:extLst>
              <a:ext uri="{FF2B5EF4-FFF2-40B4-BE49-F238E27FC236}">
                <a16:creationId xmlns:a16="http://schemas.microsoft.com/office/drawing/2014/main" id="{0CBB2C50-CE05-43D7-94FC-424AC7B8CB46}"/>
              </a:ext>
            </a:extLst>
          </p:cNvPr>
          <p:cNvSpPr/>
          <p:nvPr/>
        </p:nvSpPr>
        <p:spPr>
          <a:xfrm>
            <a:off x="4984961" y="3716552"/>
            <a:ext cx="485603" cy="293510"/>
          </a:xfrm>
          <a:prstGeom prst="stripedRightArrow">
            <a:avLst>
              <a:gd name="adj1" fmla="val 55797"/>
              <a:gd name="adj2" fmla="val 630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 descr="Research">
            <a:extLst>
              <a:ext uri="{FF2B5EF4-FFF2-40B4-BE49-F238E27FC236}">
                <a16:creationId xmlns:a16="http://schemas.microsoft.com/office/drawing/2014/main" id="{19C4E34D-7E6F-49B6-A1AE-FA5BCDDEDA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1503" y="3378958"/>
            <a:ext cx="1435502" cy="14355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DF9730-8E44-471B-A1D9-396DCECB32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8520" y="1290598"/>
            <a:ext cx="3311180" cy="325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0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945F-B573-4CB0-8E0B-BE7D4290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Key Requirements 1/3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B3219-2F3B-4A60-A104-03407EF05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Interoperability</a:t>
            </a:r>
          </a:p>
          <a:p>
            <a:pPr lvl="1"/>
            <a:r>
              <a:rPr lang="en-US" sz="1600" dirty="0"/>
              <a:t>Standardized Protocols: Ensuring seamless interaction across platforms.</a:t>
            </a:r>
          </a:p>
          <a:p>
            <a:pPr lvl="1"/>
            <a:r>
              <a:rPr lang="en-US" sz="1600" dirty="0"/>
              <a:t>Multimodal Data Formats: Supporting text, files, audio, and video.</a:t>
            </a:r>
          </a:p>
          <a:p>
            <a:pPr lvl="1"/>
            <a:r>
              <a:rPr lang="en-US" sz="1600" dirty="0"/>
              <a:t>Agent Identity Management: Secure identification and verification.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Discovery Mechanisms</a:t>
            </a:r>
          </a:p>
          <a:p>
            <a:pPr lvl="1"/>
            <a:r>
              <a:rPr lang="en-US" sz="1600" dirty="0"/>
              <a:t>Dynamic identification and location of AI agents and tools.</a:t>
            </a:r>
          </a:p>
          <a:p>
            <a:pPr lvl="1"/>
            <a:r>
              <a:rPr lang="en-US" sz="1600" dirty="0"/>
              <a:t>Combining multiple discovery mechanisms for efficiency.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Management</a:t>
            </a:r>
          </a:p>
          <a:p>
            <a:pPr lvl="1"/>
            <a:r>
              <a:rPr lang="en-US" sz="1600" dirty="0"/>
              <a:t>Task decomposition, assignment, scheduling, and coordination.</a:t>
            </a:r>
          </a:p>
          <a:p>
            <a:pPr lvl="1"/>
            <a:r>
              <a:rPr lang="en-US" sz="1600" dirty="0"/>
              <a:t>Importance of seamless collaboration among agents.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4DBF2-F049-4A18-A4E9-58163015A8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163FB-A6CF-4505-8745-A09229360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90412-EBA2-4F42-B6E9-927636822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9" y="1404258"/>
            <a:ext cx="786678" cy="786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46EF8C-5D11-4447-B5F5-9D9788ED9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91" y="2571750"/>
            <a:ext cx="697107" cy="463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BF1EB8-E606-4C15-A735-8DC8B3B1B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492" y="3345903"/>
            <a:ext cx="669792" cy="46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2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76ED-D83F-4708-9594-D5E50826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Key Requirements 2/3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2E9E6-20E9-4C10-BF89-453033AD9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 Awareness</a:t>
            </a:r>
          </a:p>
          <a:p>
            <a:pPr lvl="1"/>
            <a:r>
              <a:rPr lang="en-US" sz="1600" dirty="0"/>
              <a:t>Contextual Understanding: Awareness of operational context.</a:t>
            </a:r>
          </a:p>
          <a:p>
            <a:pPr lvl="1"/>
            <a:r>
              <a:rPr lang="en-US" sz="1600" dirty="0"/>
              <a:t>Adaptive Communication: Adapting communication based on context.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Autonomy</a:t>
            </a:r>
          </a:p>
          <a:p>
            <a:pPr lvl="1"/>
            <a:r>
              <a:rPr lang="en-US" sz="1600" dirty="0"/>
              <a:t>Decision Making: Autonomous and collaborative decisions.</a:t>
            </a:r>
          </a:p>
          <a:p>
            <a:pPr lvl="1"/>
            <a:r>
              <a:rPr lang="en-US" sz="1600" dirty="0"/>
              <a:t>Self-Management: Self-configuration, optimization, and healing.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</a:p>
          <a:p>
            <a:pPr lvl="1"/>
            <a:r>
              <a:rPr lang="en-US" sz="1600" dirty="0"/>
              <a:t>Authentication and Authorization: Identity verification and access control.</a:t>
            </a:r>
          </a:p>
          <a:p>
            <a:pPr lvl="1"/>
            <a:r>
              <a:rPr lang="en-US" sz="1600" dirty="0"/>
              <a:t>Data Protection: Encryption for privacy and confidentiality.</a:t>
            </a:r>
          </a:p>
          <a:p>
            <a:pPr lvl="1"/>
            <a:r>
              <a:rPr lang="en-US" sz="1600" dirty="0"/>
              <a:t>User Consent: Mechanisms for secure data exchange.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D410-B389-44BA-99DB-A579BBF936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CF2A4-36E3-40D4-B09C-3A193AD1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716FF6-A74C-48E2-8524-B659151E5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91" y="1431130"/>
            <a:ext cx="915240" cy="523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08DC6A-2A3E-4E05-B76D-116E34EAB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91" y="2194077"/>
            <a:ext cx="844867" cy="562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3B352D-ED1D-498A-B7B0-AE1DA7E87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54" y="3066558"/>
            <a:ext cx="827777" cy="86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64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0D6E-904F-43C8-95B6-6402A618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Key Requirements 3/3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AEB8C-EFC2-428C-B577-6345F02E7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950" y="856995"/>
            <a:ext cx="8222100" cy="3765300"/>
          </a:xfrm>
        </p:spPr>
        <p:txBody>
          <a:bodyPr/>
          <a:lstStyle/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 Latency Communication</a:t>
            </a:r>
          </a:p>
          <a:p>
            <a:pPr lvl="1"/>
            <a:r>
              <a:rPr lang="en-US" sz="1600" dirty="0"/>
              <a:t>Importance of minimal delay in data transmission.</a:t>
            </a:r>
          </a:p>
          <a:p>
            <a:pPr lvl="1"/>
            <a:r>
              <a:rPr lang="en-US" sz="1600" dirty="0"/>
              <a:t>Critical for real-time applications.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Reliability</a:t>
            </a:r>
          </a:p>
          <a:p>
            <a:pPr lvl="1"/>
            <a:r>
              <a:rPr lang="en-US" sz="1600" dirty="0"/>
              <a:t>Fault Tolerance: Detecting, mitigating, and recovering from anomalies.</a:t>
            </a:r>
          </a:p>
          <a:p>
            <a:pPr lvl="1"/>
            <a:r>
              <a:rPr lang="en-US" sz="1600" dirty="0"/>
              <a:t>Load Balancing: Distributing tasks to prevent bottlenecks.</a:t>
            </a:r>
          </a:p>
          <a:p>
            <a:pPr lvl="1"/>
            <a:r>
              <a:rPr lang="en-US" sz="1600" dirty="0"/>
              <a:t>Redundancy: Ensuring high reliability and service continuity.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Flexibility</a:t>
            </a:r>
          </a:p>
          <a:p>
            <a:pPr lvl="1"/>
            <a:r>
              <a:rPr lang="en-US" sz="1600" dirty="0"/>
              <a:t>Scalability: Accommodating increasing network sizes and data volumes.</a:t>
            </a:r>
          </a:p>
          <a:p>
            <a:pPr lvl="1"/>
            <a:r>
              <a:rPr lang="en-US" sz="1600" dirty="0"/>
              <a:t>Adaptability: Adjusting to various contexts and transmission methods.</a:t>
            </a:r>
          </a:p>
          <a:p>
            <a:pPr lvl="1"/>
            <a:r>
              <a:rPr lang="en-US" sz="1600" dirty="0"/>
              <a:t>Extensibility: Evolving with new technologies.</a:t>
            </a:r>
          </a:p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Energy Efficiency</a:t>
            </a:r>
          </a:p>
          <a:p>
            <a:pPr lvl="1"/>
            <a:r>
              <a:rPr lang="en-US" sz="1600" dirty="0"/>
              <a:t>Optimized Communication: Reducing energy consumption.</a:t>
            </a:r>
          </a:p>
          <a:p>
            <a:pPr lvl="1"/>
            <a:r>
              <a:rPr lang="en-US" sz="1600" dirty="0"/>
              <a:t>Power Management: Extending operational life of devices.</a:t>
            </a:r>
          </a:p>
          <a:p>
            <a:pPr marL="11430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5DBAC-E94B-477E-A3B5-8C56E4718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B0032-6415-4332-826A-8C63EAF5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355F2C-BFDE-4073-98D0-722FB3D68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71" y="1280392"/>
            <a:ext cx="511492" cy="511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16B8F8-0842-4122-ADA0-42BED933D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50" y="2158134"/>
            <a:ext cx="581511" cy="581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4E2910-9221-40AD-9B6E-843B20C4D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13" y="3185159"/>
            <a:ext cx="742007" cy="742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5FF644-46B3-498A-AA2F-3F1D6C08E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072" y="4333432"/>
            <a:ext cx="372087" cy="59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35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02C8-F25B-4B50-B59C-0F517730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Related</a:t>
            </a:r>
            <a:r>
              <a:rPr lang="fr-FR" dirty="0"/>
              <a:t> topics of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interest</a:t>
            </a:r>
            <a:r>
              <a:rPr lang="fr-FR" dirty="0"/>
              <a:t> in SA2 </a:t>
            </a:r>
            <a:r>
              <a:rPr lang="fr-FR" dirty="0" err="1"/>
              <a:t>study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6F5E9-C103-404F-8B1C-E4D77A356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Study on Architecture for 6G System captured in TR 23.801-1 (still draft)</a:t>
            </a:r>
          </a:p>
          <a:p>
            <a:pPr lvl="1"/>
            <a:r>
              <a:rPr lang="fr-FR" sz="1600" dirty="0">
                <a:hlinkClick r:id="rId2"/>
              </a:rPr>
              <a:t>https://www.3gpp.org/dynareport/23801-1.htm</a:t>
            </a:r>
            <a:endParaRPr lang="fr-FR" sz="1600" dirty="0"/>
          </a:p>
          <a:p>
            <a:pPr lvl="1"/>
            <a:r>
              <a:rPr lang="fr-FR" sz="1600" dirty="0"/>
              <a:t>To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  <a:r>
              <a:rPr lang="fr-FR" sz="1600" dirty="0" err="1"/>
              <a:t>completed</a:t>
            </a:r>
            <a:r>
              <a:rPr lang="fr-FR" sz="1600" dirty="0"/>
              <a:t> by 2027/03</a:t>
            </a:r>
          </a:p>
          <a:p>
            <a:r>
              <a:rPr lang="fr-FR" sz="1600" dirty="0"/>
              <a:t>2 key issues of </a:t>
            </a:r>
            <a:r>
              <a:rPr lang="fr-FR" sz="1600" dirty="0" err="1"/>
              <a:t>special</a:t>
            </a:r>
            <a:r>
              <a:rPr lang="fr-FR" sz="1600" dirty="0"/>
              <a:t> </a:t>
            </a:r>
            <a:r>
              <a:rPr lang="fr-FR" sz="1600" dirty="0" err="1"/>
              <a:t>interest</a:t>
            </a:r>
            <a:endParaRPr lang="fr-FR" sz="1600" dirty="0"/>
          </a:p>
          <a:p>
            <a:pPr lvl="1"/>
            <a:r>
              <a:rPr lang="en-US" sz="1400" b="1" dirty="0"/>
              <a:t>Key Issue #18: AI for 6G architecture</a:t>
            </a:r>
          </a:p>
          <a:p>
            <a:pPr lvl="2"/>
            <a:r>
              <a:rPr lang="en-US" sz="1400" dirty="0"/>
              <a:t>Study how to enable </a:t>
            </a:r>
            <a:r>
              <a:rPr lang="en-US" sz="1400" dirty="0">
                <a:highlight>
                  <a:srgbClr val="FFFF00"/>
                </a:highlight>
              </a:rPr>
              <a:t>AI capable entities (</a:t>
            </a:r>
            <a:r>
              <a:rPr lang="en-GB" sz="1400" dirty="0">
                <a:highlight>
                  <a:srgbClr val="FFFF00"/>
                </a:highlight>
              </a:rPr>
              <a:t>e.g. AI agent, AI-enabled NFs</a:t>
            </a:r>
            <a:r>
              <a:rPr lang="en-US" sz="1400" dirty="0">
                <a:highlight>
                  <a:srgbClr val="FFFF00"/>
                </a:highlight>
              </a:rPr>
              <a:t>) in 6G CN to dynamically address UE or application requests</a:t>
            </a:r>
          </a:p>
          <a:p>
            <a:pPr lvl="2"/>
            <a:r>
              <a:rPr lang="fr-FR" sz="1400" dirty="0" err="1"/>
              <a:t>Already</a:t>
            </a:r>
            <a:r>
              <a:rPr lang="fr-FR" sz="1400" dirty="0"/>
              <a:t> 46 </a:t>
            </a:r>
            <a:r>
              <a:rPr lang="fr-FR" sz="1400" dirty="0" err="1"/>
              <a:t>proposed</a:t>
            </a:r>
            <a:r>
              <a:rPr lang="fr-FR" sz="1400" dirty="0"/>
              <a:t> solutions to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analyzed</a:t>
            </a:r>
            <a:endParaRPr lang="en-US" sz="1400" dirty="0"/>
          </a:p>
          <a:p>
            <a:pPr lvl="1"/>
            <a:r>
              <a:rPr lang="en-US" sz="1400" b="1" dirty="0"/>
              <a:t>Key Issue #19: 6G Network for AI</a:t>
            </a:r>
          </a:p>
          <a:p>
            <a:pPr lvl="2"/>
            <a:r>
              <a:rPr lang="en-US" sz="1400" dirty="0"/>
              <a:t>Study how to support an </a:t>
            </a:r>
            <a:r>
              <a:rPr lang="en-US" sz="1400" dirty="0">
                <a:highlight>
                  <a:srgbClr val="FFFF00"/>
                </a:highlight>
              </a:rPr>
              <a:t>AI agent on a UE to discover another AI agent </a:t>
            </a:r>
            <a:r>
              <a:rPr lang="en-US" sz="1400" dirty="0"/>
              <a:t>on a different UE via the 6G network(s) and  </a:t>
            </a:r>
            <a:r>
              <a:rPr lang="en-US" sz="1400" dirty="0">
                <a:highlight>
                  <a:srgbClr val="FFFF00"/>
                </a:highlight>
              </a:rPr>
              <a:t>enable communication for AI agents on different UEs via the 6G network(s)</a:t>
            </a:r>
            <a:r>
              <a:rPr lang="en-US" sz="1400" dirty="0"/>
              <a:t> e.g. identification and authorization of an AI agent on a UE.</a:t>
            </a:r>
          </a:p>
          <a:p>
            <a:pPr lvl="2"/>
            <a:r>
              <a:rPr lang="fr-FR" sz="1400" dirty="0" err="1"/>
              <a:t>Already</a:t>
            </a:r>
            <a:r>
              <a:rPr lang="fr-FR" sz="1400" dirty="0"/>
              <a:t> 37 </a:t>
            </a:r>
            <a:r>
              <a:rPr lang="fr-FR" sz="1400" dirty="0" err="1"/>
              <a:t>proposed</a:t>
            </a:r>
            <a:r>
              <a:rPr lang="fr-FR" sz="1400" dirty="0"/>
              <a:t> solutions to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analyzed</a:t>
            </a:r>
            <a:endParaRPr lang="fr-FR" sz="1400" dirty="0"/>
          </a:p>
          <a:p>
            <a:r>
              <a:rPr lang="fr-FR" sz="1600" dirty="0" err="1"/>
              <a:t>Based</a:t>
            </a:r>
            <a:r>
              <a:rPr lang="fr-FR" sz="1600" dirty="0"/>
              <a:t> on the SA2 conclusions, </a:t>
            </a:r>
            <a:r>
              <a:rPr lang="fr-FR" sz="1600" dirty="0" err="1"/>
              <a:t>Study</a:t>
            </a:r>
            <a:r>
              <a:rPr lang="fr-FR" sz="1600" dirty="0"/>
              <a:t> on </a:t>
            </a:r>
            <a:r>
              <a:rPr lang="fr-FR" sz="1600" dirty="0" err="1"/>
              <a:t>protocol</a:t>
            </a:r>
            <a:r>
              <a:rPr lang="fr-FR" sz="1600" dirty="0"/>
              <a:t> aspects </a:t>
            </a:r>
            <a:r>
              <a:rPr lang="fr-FR" sz="1600" dirty="0" err="1"/>
              <a:t>aspects</a:t>
            </a:r>
            <a:r>
              <a:rPr lang="fr-FR" sz="1600" dirty="0"/>
              <a:t> to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  <a:r>
              <a:rPr lang="fr-FR" sz="1600" dirty="0" err="1"/>
              <a:t>done</a:t>
            </a:r>
            <a:r>
              <a:rPr lang="fr-FR" sz="1600" dirty="0"/>
              <a:t> by 2027/09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D9BAE-B922-4628-AB3F-EFDFC81F3B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1FDE4-56BD-4021-A613-1399B5972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06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86B1-AE05-456F-9C82-18B8D69E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CB8BD-AF7C-400F-83A7-6ACF48F0D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study identifies the </a:t>
            </a:r>
            <a:r>
              <a:rPr lang="en-US" dirty="0">
                <a:solidFill>
                  <a:srgbClr val="FF0000"/>
                </a:solidFill>
              </a:rPr>
              <a:t>potential of AI agent communication </a:t>
            </a:r>
            <a:r>
              <a:rPr lang="en-US" dirty="0"/>
              <a:t>in the scope of 6G.</a:t>
            </a:r>
          </a:p>
          <a:p>
            <a:r>
              <a:rPr lang="en-US" dirty="0"/>
              <a:t>Study on architecture and functional aspects has been launched in 3GPP SA2 WG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If</a:t>
            </a:r>
            <a:r>
              <a:rPr lang="en-US" dirty="0"/>
              <a:t> a multi-AI agent-based system is formally adopted by 3GPP in the scope of 6G, </a:t>
            </a:r>
            <a:r>
              <a:rPr lang="en-US" dirty="0">
                <a:solidFill>
                  <a:srgbClr val="FF0000"/>
                </a:solidFill>
              </a:rPr>
              <a:t>standard solutions will be required </a:t>
            </a:r>
            <a:r>
              <a:rPr lang="en-US" dirty="0"/>
              <a:t>to support secure and reliable communication between agents and between agents and external tools. </a:t>
            </a:r>
          </a:p>
          <a:p>
            <a:r>
              <a:rPr lang="en-US" dirty="0"/>
              <a:t>Standard solutions for </a:t>
            </a:r>
            <a:r>
              <a:rPr lang="en-US" dirty="0">
                <a:solidFill>
                  <a:srgbClr val="FF0000"/>
                </a:solidFill>
              </a:rPr>
              <a:t>intra-network</a:t>
            </a:r>
            <a:r>
              <a:rPr lang="en-US" dirty="0"/>
              <a:t> but also for </a:t>
            </a:r>
            <a:r>
              <a:rPr lang="en-US" dirty="0">
                <a:solidFill>
                  <a:srgbClr val="FF0000"/>
                </a:solidFill>
              </a:rPr>
              <a:t>interaction between operator networks </a:t>
            </a:r>
            <a:r>
              <a:rPr lang="en-US" dirty="0"/>
              <a:t>and with </a:t>
            </a:r>
            <a:r>
              <a:rPr lang="en-US" dirty="0">
                <a:solidFill>
                  <a:srgbClr val="FF0000"/>
                </a:solidFill>
              </a:rPr>
              <a:t>3rd-party AI </a:t>
            </a:r>
            <a:r>
              <a:rPr lang="en-US" dirty="0" err="1">
                <a:solidFill>
                  <a:srgbClr val="FF0000"/>
                </a:solidFill>
              </a:rPr>
              <a:t>ecosytems</a:t>
            </a:r>
            <a:r>
              <a:rPr lang="en-US" dirty="0"/>
              <a:t>. </a:t>
            </a:r>
          </a:p>
          <a:p>
            <a:pPr lvl="1"/>
            <a:endParaRPr lang="en-US" dirty="0"/>
          </a:p>
          <a:p>
            <a:r>
              <a:rPr lang="en-US" dirty="0"/>
              <a:t>Authors consider that </a:t>
            </a:r>
            <a:r>
              <a:rPr lang="en-US" dirty="0">
                <a:solidFill>
                  <a:srgbClr val="FF0000"/>
                </a:solidFill>
              </a:rPr>
              <a:t>IETF is the right place </a:t>
            </a:r>
            <a:r>
              <a:rPr lang="en-US" dirty="0"/>
              <a:t>for such standard effort.</a:t>
            </a:r>
          </a:p>
          <a:p>
            <a:r>
              <a:rPr lang="en-US" dirty="0"/>
              <a:t>Close coordination </a:t>
            </a:r>
            <a:r>
              <a:rPr lang="en-US" dirty="0">
                <a:solidFill>
                  <a:srgbClr val="FF0000"/>
                </a:solidFill>
              </a:rPr>
              <a:t>between IETF and 3GPP </a:t>
            </a:r>
            <a:r>
              <a:rPr lang="en-US" dirty="0"/>
              <a:t>is expected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01E5B-B9CA-4199-917C-D31658CB7E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F1FA6-3303-45E0-A26A-123FE945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080" y="114300"/>
            <a:ext cx="769620" cy="57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18577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7589</TotalTime>
  <Words>661</Words>
  <Application>Microsoft Office PowerPoint</Application>
  <PresentationFormat>On-screen Show (16:9)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Inter</vt:lpstr>
      <vt:lpstr>Montserrat</vt:lpstr>
      <vt:lpstr>Open Sans</vt:lpstr>
      <vt:lpstr>Open Sans Medium</vt:lpstr>
      <vt:lpstr>Roboto</vt:lpstr>
      <vt:lpstr>Material</vt:lpstr>
      <vt:lpstr>6G use cases for AI agent communication protocols draft-stephan-ai-agent-6g-02 </vt:lpstr>
      <vt:lpstr>Study on 6G Use Cases and Service Requirements</vt:lpstr>
      <vt:lpstr>Pragmatic approach</vt:lpstr>
      <vt:lpstr>Potential Key Requirements 1/3</vt:lpstr>
      <vt:lpstr>Potential Key Requirements 2/3</vt:lpstr>
      <vt:lpstr>Potential Key Requirements 3/3</vt:lpstr>
      <vt:lpstr>Related topics of special interest in SA2 study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123 Session title</dc:title>
  <dc:creator>Lionel Morand</dc:creator>
  <cp:lastModifiedBy>Lionel Morand</cp:lastModifiedBy>
  <cp:revision>99</cp:revision>
  <dcterms:modified xsi:type="dcterms:W3CDTF">2026-03-17T09:36:55Z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1773740007</vt:lpwstr>
  </property>
</Properties>
</file>